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DynaPuff Bold"/>
      <p:regular r:id="rId201314"/>
    </p:embeddedFont>
    <p:embeddedFont>
      <p:font typeface="Lexend Deca"/>
      <p:regular r:id="rId201315"/>
    </p:embeddedFont>
    <p:embeddedFont>
      <p:font typeface="Lexend Deca Medium"/>
      <p:regular r:id="rId201316"/>
    </p:embeddedFont>
    <p:embeddedFont>
      <p:font typeface="Lexend Deca SemiBold"/>
      <p:regular r:id="rId201317"/>
    </p:embeddedFont>
    <p:embeddedFont>
      <p:font typeface="Lexend Deca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030" y="1820545"/>
            <a:ext cx="593075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18" kern="100" dirty="0">
                <a:solidFill>
                  <a:srgbClr val="675D54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CUSTOMER SHOPPING BEHAVIOR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81030" y="2257398"/>
            <a:ext cx="5321167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b="1" spc="-21" kern="100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Customer shopping</a:t>
            </a:r>
            <a:endParaRPr lang="en-US" sz="42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200" b="1" spc="-21" kern="100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behavior points to</a:t>
            </a:r>
            <a:endParaRPr lang="en-US" sz="42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200" b="1" spc="-21" kern="100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a loyalty</a:t>
            </a:r>
            <a:endParaRPr lang="en-US" sz="42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200" b="1" spc="-21" kern="100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opportunity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30" y="4719141"/>
            <a:ext cx="2793831" cy="393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030" y="5460921"/>
            <a:ext cx="593075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675D5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Executive readout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030"/>
            <a:ext cx="115821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675D5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BASELINE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585" y="1470276"/>
            <a:ext cx="10972526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b="1" spc="-23" kern="100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3,900 purchases reveal a broad but uneven customer base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09585" y="3768130"/>
            <a:ext cx="3454314" cy="1903710"/>
          </a:xfrm>
          <a:prstGeom prst="roundRect">
            <a:avLst>
              <a:gd name="adj" fmla="val 20814"/>
            </a:avLst>
          </a:prstGeom>
          <a:solidFill>
            <a:srgbClr val="F7E3A0"/>
          </a:solidFill>
          <a:ln/>
        </p:spPr>
      </p:sp>
      <p:sp>
        <p:nvSpPr>
          <p:cNvPr id="5" name="Text 3"/>
          <p:cNvSpPr/>
          <p:nvPr/>
        </p:nvSpPr>
        <p:spPr>
          <a:xfrm>
            <a:off x="1320965" y="4121774"/>
            <a:ext cx="2946326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800" b="1" spc="-29" kern="100" dirty="0">
                <a:solidFill>
                  <a:srgbClr val="000000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3,900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1347158" y="5106710"/>
            <a:ext cx="197916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transactions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68691" y="3768130"/>
            <a:ext cx="3454314" cy="1903710"/>
          </a:xfrm>
          <a:prstGeom prst="roundRect">
            <a:avLst>
              <a:gd name="adj" fmla="val 20814"/>
            </a:avLst>
          </a:prstGeom>
          <a:solidFill>
            <a:srgbClr val="C6D6E9"/>
          </a:solidFill>
          <a:ln/>
        </p:spPr>
      </p:sp>
      <p:sp>
        <p:nvSpPr>
          <p:cNvPr id="8" name="Text 6"/>
          <p:cNvSpPr/>
          <p:nvPr/>
        </p:nvSpPr>
        <p:spPr>
          <a:xfrm>
            <a:off x="4964782" y="4121774"/>
            <a:ext cx="2946326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800" b="1" spc="-29" kern="100" dirty="0">
                <a:solidFill>
                  <a:srgbClr val="000000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$59.76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792146" y="5106710"/>
            <a:ext cx="260730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average purchase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7797" y="3768130"/>
            <a:ext cx="3454314" cy="1903710"/>
          </a:xfrm>
          <a:prstGeom prst="roundRect">
            <a:avLst>
              <a:gd name="adj" fmla="val 20814"/>
            </a:avLst>
          </a:prstGeom>
          <a:solidFill>
            <a:srgbClr val="DBDEA5"/>
          </a:solidFill>
          <a:ln/>
        </p:spPr>
      </p:sp>
      <p:sp>
        <p:nvSpPr>
          <p:cNvPr id="11" name="Text 9"/>
          <p:cNvSpPr/>
          <p:nvPr/>
        </p:nvSpPr>
        <p:spPr>
          <a:xfrm>
            <a:off x="9171750" y="4121774"/>
            <a:ext cx="2946326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800" b="1" spc="-29" kern="100" dirty="0">
                <a:solidFill>
                  <a:srgbClr val="000000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3.75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8329603" y="5106710"/>
            <a:ext cx="305060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average review rating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585" y="5962670"/>
            <a:ext cx="115821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675D5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Across 4 categories, 25 products, and 50 locations. 37 ratings were imputed during cleaning.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947027" y="152400"/>
            <a:ext cx="1066773" cy="666750"/>
          </a:xfrm>
          <a:prstGeom prst="rect">
            <a:avLst/>
          </a:prstGeom>
          <a:solidFill>
            <a:srgbClr val="8DB3E2"/>
          </a:solidFill>
          <a:ln/>
        </p:spPr>
      </p:sp>
      <p:sp>
        <p:nvSpPr>
          <p:cNvPr id="15" name="Shape 13"/>
          <p:cNvSpPr/>
          <p:nvPr/>
        </p:nvSpPr>
        <p:spPr>
          <a:xfrm>
            <a:off x="177796" y="6153150"/>
            <a:ext cx="990575" cy="577850"/>
          </a:xfrm>
          <a:prstGeom prst="rect">
            <a:avLst/>
          </a:prstGeom>
          <a:solidFill>
            <a:srgbClr val="F4BCD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030"/>
            <a:ext cx="115821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675D5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CATEGORY ECONOMICS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585" y="1462663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Clothing carries the business, while accessories provide the next growth pool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261221"/>
            <a:ext cx="5841854" cy="2413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75936" y="2735560"/>
            <a:ext cx="4206174" cy="1188641"/>
          </a:xfrm>
          <a:prstGeom prst="roundRect">
            <a:avLst>
              <a:gd name="adj" fmla="val 33335"/>
            </a:avLst>
          </a:prstGeom>
          <a:solidFill>
            <a:srgbClr val="F7E3A0"/>
          </a:solidFill>
          <a:ln/>
        </p:spPr>
      </p:sp>
      <p:sp>
        <p:nvSpPr>
          <p:cNvPr id="6" name="Text 3"/>
          <p:cNvSpPr/>
          <p:nvPr/>
        </p:nvSpPr>
        <p:spPr>
          <a:xfrm>
            <a:off x="7629929" y="2945745"/>
            <a:ext cx="3698187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~2,000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Clothing sales</a:t>
            </a:r>
            <a:endParaRPr lang="en-US" sz="22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~1,200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Accessories sales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75936" y="4229001"/>
            <a:ext cx="4206174" cy="1970881"/>
          </a:xfrm>
          <a:prstGeom prst="roundRect">
            <a:avLst>
              <a:gd name="adj" fmla="val 26290"/>
            </a:avLst>
          </a:prstGeom>
          <a:solidFill>
            <a:srgbClr val="F4BCD0"/>
          </a:solidFill>
          <a:ln/>
        </p:spPr>
      </p:sp>
      <p:sp>
        <p:nvSpPr>
          <p:cNvPr id="8" name="Text 5"/>
          <p:cNvSpPr/>
          <p:nvPr/>
        </p:nvSpPr>
        <p:spPr>
          <a:xfrm>
            <a:off x="7629929" y="4439186"/>
            <a:ext cx="3698187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Protect the core clothing engine while using accessories to expand basket size.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301127" y="6174482"/>
            <a:ext cx="380990" cy="330200"/>
          </a:xfrm>
          <a:prstGeom prst="rect">
            <a:avLst/>
          </a:prstGeom>
          <a:solidFill>
            <a:srgbClr val="F4BCD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4055"/>
            <a:ext cx="10972526" cy="1849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0" b="1" spc="-22" kern="100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Revenue is concentrated among male customers, but the segment story needs more nuance</a:t>
            </a:r>
            <a:endParaRPr lang="en-US" sz="4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56694"/>
            <a:ext cx="6349841" cy="228709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4918" y="2756694"/>
            <a:ext cx="4267192" cy="4103191"/>
          </a:xfrm>
          <a:prstGeom prst="roundRect">
            <a:avLst>
              <a:gd name="adj" fmla="val 9657"/>
            </a:avLst>
          </a:prstGeom>
          <a:solidFill>
            <a:srgbClr val="F7E3A0"/>
          </a:solidFill>
          <a:ln/>
        </p:spPr>
      </p:sp>
      <p:sp>
        <p:nvSpPr>
          <p:cNvPr id="5" name="Text 2"/>
          <p:cNvSpPr/>
          <p:nvPr/>
        </p:nvSpPr>
        <p:spPr>
          <a:xfrm>
            <a:off x="7543512" y="2934494"/>
            <a:ext cx="3810004" cy="3747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750" b="1" dirty="0">
                <a:solidFill>
                  <a:srgbClr val="00000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Revenue split:</a:t>
            </a:r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75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Male customers generate $157,890 versus $75,191 from female customers.</a:t>
            </a:r>
            <a:endParaRPr lang="en-US" sz="1750" dirty="0"/>
          </a:p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750" b="1" dirty="0">
                <a:solidFill>
                  <a:srgbClr val="00000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Read carefully:</a:t>
            </a:r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75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Revenue concentration is not customer profitability or conversion efficiency.</a:t>
            </a:r>
            <a:endParaRPr lang="en-US" sz="1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Next test:</a:t>
            </a:r>
            <a:pPr algn="l" indent="0" marL="0">
              <a:lnSpc>
                <a:spcPct val="115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Test differentiated merchandising and messaging before reallocating spend solely on revenue share.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890"/>
            <a:ext cx="10972526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b="1" spc="-23" kern="100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The biggest unlock is converting loyal repeat buyers into subscribers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609585" y="2182614"/>
            <a:ext cx="5333867" cy="3510359"/>
          </a:xfrm>
          <a:prstGeom prst="roundRect">
            <a:avLst>
              <a:gd name="adj" fmla="val 11287"/>
            </a:avLst>
          </a:prstGeom>
          <a:solidFill>
            <a:srgbClr val="F7E3A0"/>
          </a:solidFill>
          <a:ln/>
        </p:spPr>
      </p:sp>
      <p:sp>
        <p:nvSpPr>
          <p:cNvPr id="4" name="Text 2"/>
          <p:cNvSpPr/>
          <p:nvPr/>
        </p:nvSpPr>
        <p:spPr>
          <a:xfrm>
            <a:off x="914377" y="2479159"/>
            <a:ext cx="502907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18" kern="1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CUSTOMER BASE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77" y="2888932"/>
            <a:ext cx="4724282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000000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3,116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377" y="3668117"/>
            <a:ext cx="4724282" cy="96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customers are classified as Loyal</a:t>
            </a:r>
            <a:endParaRPr lang="en-US" sz="22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701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Returning · </a:t>
            </a:r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83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48244" y="2182614"/>
            <a:ext cx="5333867" cy="3510359"/>
          </a:xfrm>
          <a:prstGeom prst="roundRect">
            <a:avLst>
              <a:gd name="adj" fmla="val 11287"/>
            </a:avLst>
          </a:prstGeom>
          <a:solidFill>
            <a:srgbClr val="C6D6E9"/>
          </a:solidFill>
          <a:ln/>
        </p:spPr>
      </p:sp>
      <p:sp>
        <p:nvSpPr>
          <p:cNvPr id="8" name="Text 6"/>
          <p:cNvSpPr/>
          <p:nvPr/>
        </p:nvSpPr>
        <p:spPr>
          <a:xfrm>
            <a:off x="6553036" y="2479159"/>
            <a:ext cx="502907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18" kern="100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SUBSCRIPTION REACH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036" y="2888932"/>
            <a:ext cx="4724282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000000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27%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553036" y="3668117"/>
            <a:ext cx="4724282" cy="174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of customers subscribe; </a:t>
            </a:r>
            <a:pPr algn="l" indent="0" marL="0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73%</a:t>
            </a:r>
            <a:pPr algn="l" indent="0" marL="0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do not</a:t>
            </a:r>
            <a:endParaRPr lang="en-US" sz="22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$170,436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from non-subscribers · </a:t>
            </a:r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$62,645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from subscribers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9585" y="5983803"/>
            <a:ext cx="115821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675D5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opportunity is not simply acquisition; it is a better conversion path for existing loyal demand.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47027" y="152400"/>
            <a:ext cx="1066773" cy="666750"/>
          </a:xfrm>
          <a:prstGeom prst="rect">
            <a:avLst/>
          </a:prstGeom>
          <a:solidFill>
            <a:srgbClr val="8DB3E2"/>
          </a:solidFill>
          <a:ln/>
        </p:spPr>
      </p:sp>
      <p:sp>
        <p:nvSpPr>
          <p:cNvPr id="13" name="Shape 11"/>
          <p:cNvSpPr/>
          <p:nvPr/>
        </p:nvSpPr>
        <p:spPr>
          <a:xfrm>
            <a:off x="177796" y="6153150"/>
            <a:ext cx="990575" cy="577850"/>
          </a:xfrm>
          <a:prstGeom prst="rect">
            <a:avLst/>
          </a:prstGeom>
          <a:solidFill>
            <a:srgbClr val="F4BCD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440"/>
            <a:ext cx="4648084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E2A26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Discounts attract high-value demand, but some products may be over-dependent on them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9585" y="2467868"/>
            <a:ext cx="4648084" cy="3162796"/>
          </a:xfrm>
          <a:prstGeom prst="roundRect">
            <a:avLst>
              <a:gd name="adj" fmla="val 12528"/>
            </a:avLst>
          </a:prstGeom>
          <a:solidFill>
            <a:srgbClr val="2E2A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696468"/>
            <a:ext cx="522870" cy="5228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8179" y="3447202"/>
            <a:ext cx="4190895" cy="689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450" b="1" spc="-27" kern="100" dirty="0">
                <a:solidFill>
                  <a:srgbClr val="FFFFFF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839</a:t>
            </a:r>
            <a:endParaRPr lang="en-US" sz="5450" dirty="0"/>
          </a:p>
        </p:txBody>
      </p:sp>
      <p:sp>
        <p:nvSpPr>
          <p:cNvPr id="6" name="Text 3"/>
          <p:cNvSpPr/>
          <p:nvPr/>
        </p:nvSpPr>
        <p:spPr>
          <a:xfrm>
            <a:off x="838179" y="4346114"/>
            <a:ext cx="4190895" cy="1062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customers used discounts and still spent above the average purchase amount.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934027" y="629440"/>
            <a:ext cx="4648084" cy="415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E2A26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Most discount-dependent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34027" y="1220093"/>
          <a:ext cx="4648084" cy="914400"/>
        </p:xfrm>
        <a:graphic>
          <a:graphicData uri="http://schemas.openxmlformats.org/drawingml/2006/table">
            <a:tbl>
              <a:tblPr/>
              <a:tblGrid>
                <a:gridCol w="2324042"/>
                <a:gridCol w="2324042"/>
              </a:tblGrid>
              <a:tr h="678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5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Hat</a:t>
                      </a:r>
                      <a:endParaRPr lang="en-US" sz="205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5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50.00%</a:t>
                      </a:r>
                      <a:endParaRPr lang="en-US" sz="205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5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Sneakers</a:t>
                      </a:r>
                      <a:endParaRPr lang="en-US" sz="205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5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49.66%</a:t>
                      </a:r>
                      <a:endParaRPr lang="en-US" sz="205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5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Coat</a:t>
                      </a:r>
                      <a:endParaRPr lang="en-US" sz="205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5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49.07%</a:t>
                      </a:r>
                      <a:endParaRPr lang="en-US" sz="205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5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Sweater</a:t>
                      </a:r>
                      <a:endParaRPr lang="en-US" sz="205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5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48.17%</a:t>
                      </a:r>
                      <a:endParaRPr lang="en-US" sz="205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9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5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Pants</a:t>
                      </a:r>
                      <a:endParaRPr lang="en-US" sz="205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50" dirty="0">
                          <a:solidFill>
                            <a:srgbClr val="2E2A26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47.37%</a:t>
                      </a:r>
                      <a:endParaRPr lang="en-US" sz="205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228594" marR="228594" marT="152396" marB="152396" anchor="ctr">
                    <a:lnL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D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34027" y="4835922"/>
            <a:ext cx="4648084" cy="1367433"/>
          </a:xfrm>
          <a:prstGeom prst="roundRect">
            <a:avLst>
              <a:gd name="adj" fmla="val 37892"/>
            </a:avLst>
          </a:prstGeom>
          <a:solidFill>
            <a:srgbClr val="F7E3A0"/>
          </a:solidFill>
          <a:ln/>
        </p:spPr>
      </p:sp>
      <p:sp>
        <p:nvSpPr>
          <p:cNvPr id="10" name="Text 6"/>
          <p:cNvSpPr/>
          <p:nvPr/>
        </p:nvSpPr>
        <p:spPr>
          <a:xfrm>
            <a:off x="7188020" y="4995005"/>
            <a:ext cx="4140096" cy="1062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Separate profitable discount use from margin-eroding habit by product and customer segment.</a:t>
            </a:r>
            <a:endParaRPr lang="en-US" sz="2050" dirty="0"/>
          </a:p>
        </p:txBody>
      </p:sp>
      <p:sp>
        <p:nvSpPr>
          <p:cNvPr id="11" name="Shape 7"/>
          <p:cNvSpPr/>
          <p:nvPr/>
        </p:nvSpPr>
        <p:spPr>
          <a:xfrm>
            <a:off x="7956450" y="6177955"/>
            <a:ext cx="380990" cy="330200"/>
          </a:xfrm>
          <a:prstGeom prst="rect">
            <a:avLst/>
          </a:prstGeom>
          <a:solidFill>
            <a:srgbClr val="F7E3A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277"/>
            <a:ext cx="6705432" cy="197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Top-rated products and shipping behavior point to practical merchandising moves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895600"/>
            <a:ext cx="6705432" cy="3017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2150"/>
              </a:spcAft>
              <a:buNone/>
            </a:pPr>
            <a:r>
              <a:rPr lang="en-US" sz="2200" b="1" dirty="0">
                <a:solidFill>
                  <a:srgbClr val="2E2A26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Top-rated:</a:t>
            </a:r>
            <a:pPr algn="l" indent="0" marL="0">
              <a:lnSpc>
                <a:spcPct val="117000"/>
              </a:lnSpc>
              <a:spcAft>
                <a:spcPts val="2150"/>
              </a:spcAft>
              <a:buNone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Gloves 3.86, Sandals 3.84, Boots 3.82, Hat 3.80, and Skirt 3.78.</a:t>
            </a:r>
            <a:endParaRPr lang="en-US" sz="22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2E2A26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Shipping signal: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average purchase amount is $60.48 with Express versus $58.46 with Standard shipping. </a:t>
            </a:r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2E2A26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Action: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feature high-rated products; test express-shipping offers as a basket-building lever.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394" y="0"/>
            <a:ext cx="396230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277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Young adults contribute the most revenue, but every age group matters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44788"/>
            <a:ext cx="4952876" cy="266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48244" y="1908175"/>
            <a:ext cx="5333867" cy="4340225"/>
          </a:xfrm>
          <a:prstGeom prst="roundRect">
            <a:avLst>
              <a:gd name="adj" fmla="val 9129"/>
            </a:avLst>
          </a:prstGeom>
          <a:solidFill>
            <a:srgbClr val="F7E3A0"/>
          </a:solidFill>
          <a:ln/>
        </p:spPr>
      </p:sp>
      <p:sp>
        <p:nvSpPr>
          <p:cNvPr id="5" name="Text 2"/>
          <p:cNvSpPr/>
          <p:nvPr/>
        </p:nvSpPr>
        <p:spPr>
          <a:xfrm>
            <a:off x="6502237" y="2716351"/>
            <a:ext cx="4825879" cy="2737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Pattern: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spread is meaningful but not extreme, supporting differentiated rather than exclusive targeting. </a:t>
            </a:r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Action: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Lead with young adults while tailoring offers and product stories for the other groups.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0947027" y="152400"/>
            <a:ext cx="1066773" cy="666750"/>
          </a:xfrm>
          <a:prstGeom prst="rect">
            <a:avLst/>
          </a:prstGeom>
          <a:solidFill>
            <a:srgbClr val="8DB3E2"/>
          </a:solidFill>
          <a:ln/>
        </p:spPr>
      </p:sp>
      <p:sp>
        <p:nvSpPr>
          <p:cNvPr id="7" name="Shape 4"/>
          <p:cNvSpPr/>
          <p:nvPr/>
        </p:nvSpPr>
        <p:spPr>
          <a:xfrm>
            <a:off x="177796" y="6153150"/>
            <a:ext cx="990575" cy="577850"/>
          </a:xfrm>
          <a:prstGeom prst="rect">
            <a:avLst/>
          </a:prstGeom>
          <a:solidFill>
            <a:srgbClr val="F4BCD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890"/>
            <a:ext cx="10972526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b="1" spc="-23" kern="100" dirty="0">
                <a:solidFill>
                  <a:srgbClr val="2E2A26"/>
                </a:solidFill>
                <a:latin typeface="DynaPuff Bold" pitchFamily="34" charset="0"/>
                <a:ea typeface="DynaPuff Bold" pitchFamily="34" charset="-122"/>
                <a:cs typeface="DynaPuff Bold" pitchFamily="34" charset="-120"/>
              </a:rPr>
              <a:t>Five moves can turn the analysis into a growth agenda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09585" y="2182614"/>
            <a:ext cx="10972526" cy="3055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2E2A26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Boost subscriptions:</a:t>
            </a:r>
            <a:pPr algn="l" marL="447040" indent="-4470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make benefits tangible for loyal repeat buyers</a:t>
            </a:r>
            <a:endParaRPr lang="en-US" sz="2200" dirty="0"/>
          </a:p>
          <a:p>
            <a:pPr algn="l" marL="447040" indent="-4470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2200" b="1" dirty="0">
                <a:solidFill>
                  <a:srgbClr val="2E2A26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Reward loyalty:</a:t>
            </a:r>
            <a:pPr algn="l" marL="447040" indent="-4470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move Returning customers toward the Loyal segment</a:t>
            </a:r>
            <a:endParaRPr lang="en-US" sz="2200" dirty="0"/>
          </a:p>
          <a:p>
            <a:pPr algn="l" marL="447040" indent="-4470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2200" b="1" dirty="0">
                <a:solidFill>
                  <a:srgbClr val="2E2A26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Audit discounts:</a:t>
            </a:r>
            <a:pPr algn="l" marL="447040" indent="-4470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protect margin on discount-dependent products</a:t>
            </a:r>
            <a:endParaRPr lang="en-US" sz="2200" dirty="0"/>
          </a:p>
          <a:p>
            <a:pPr algn="l" marL="447040" indent="-44704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2200" b="1" dirty="0">
                <a:solidFill>
                  <a:srgbClr val="2E2A26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Merchandise winners:</a:t>
            </a:r>
            <a:pPr algn="l" marL="447040" indent="-44704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promote top-rated and best-selling products by category</a:t>
            </a:r>
            <a:endParaRPr lang="en-US" sz="2200" dirty="0"/>
          </a:p>
          <a:p>
            <a:pPr algn="l" marL="447040" indent="-44704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2200" b="1" dirty="0">
                <a:solidFill>
                  <a:srgbClr val="2E2A26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Target smarter:</a:t>
            </a:r>
            <a:pPr algn="l" marL="447040" indent="-44704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2200" dirty="0">
                <a:solidFill>
                  <a:srgbClr val="2E2A2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focus campaigns on high-revenue age groups and express-shipping users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96" y="152400"/>
            <a:ext cx="1066773" cy="6667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023225" y="6153150"/>
            <a:ext cx="990575" cy="577850"/>
          </a:xfrm>
          <a:prstGeom prst="rect">
            <a:avLst/>
          </a:prstGeom>
          <a:solidFill>
            <a:srgbClr val="F4BCD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2026-10-09T11:01:52Z</dcterms:created>
  <dcterms:modified xsi:type="dcterms:W3CDTF">2026-10-09T11:01:52Z</dcterms:modified>
</cp:coreProperties>
</file>